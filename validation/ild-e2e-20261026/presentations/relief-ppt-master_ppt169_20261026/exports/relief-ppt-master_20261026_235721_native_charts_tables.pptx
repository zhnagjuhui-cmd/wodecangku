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  <Relationship Id="rId1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LIEF讨论的是在既有治疗下仍进展的非IPF纤维化间质性肺病。它是一项德国17中心、随机、双盲、安慰剂对照的Ⅱb期研究，共随机127例，吡非尼酮组64例，安慰剂组63例。研究包括CTD-ILD、纤维化NSIP、慢性过敏性肺炎和石棉肺四类疾病，因此首先应把它理解为混合人群的证据，不能直接认定每个亚型都有独立的疗效证明。</a:t>
            </a:r>
          </a:p>
          <a:p>
            <a:pPr/>
            <a:endParaRPr lang="zh-CN" dirty="0"/>
          </a:p>
          <a:p>
            <a:pPr/>
            <a:r>
              <a:rPr lang="zh-CN" dirty="0"/>
              <a:t>两组在原治疗基础上加用试验药，吡非尼酮逐步增加至801 mg每日三次。观察期为48周，主要终点是FVC占预计值百分比相对基线的绝对变化，而不是死亡或生存。接下来要分别阅读主要分析、效应估计和敏感性分析，避免把它们混为同一个结论。</a:t>
            </a:r>
          </a:p>
          <a:p>
            <a:pPr/>
            <a:endParaRPr lang="zh-CN" dirty="0"/>
          </a:p>
          <a:p>
            <a:pPr/>
            <a:r>
              <a:rPr lang="zh-CN" dirty="0"/>
              <a:t>本页来源为Behr J等发表于Lancet Respiratory Medicine的2021年原始研究，卷9，页476至486；PMID 33798455，DOI 10.1016/S2213-2600(20)30554-3。已核验机构存档PDF的摘要及方法。其首页侧栏出现不同DOI后缀，正文页眉、题名和正式题录一致，引用以核实的30554-3为准；未获取附录。本次不补全文，也不新增指南或获批适应证判断。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要分析采用ITT秩ANCOVA，预设SSD缺失值插补，并把死亡者置于最差秩，报告P等于0.043。请不要把这个P值作为唯一解读依据。Hodges–Lehmann组间差为1.69个百分点，95%置信区间为负0.65至4.03，区间跨过零。这里的检验与效应估计使用不同统计程序，应如实并列，而不能为了简化叙事删掉不确定性。</a:t>
            </a:r>
          </a:p>
          <a:p>
            <a:pPr/>
            <a:endParaRPr lang="zh-CN" dirty="0"/>
          </a:p>
          <a:p>
            <a:pPr/>
            <a:r>
              <a:rPr lang="zh-CN" dirty="0"/>
              <a:t>第三行是预设的纵向斜率敏感性分析，在死亡按预设处理时，估计组间差为3.53个百分点，95%置信区间为0.21至6.86。正差方向支持吡非尼酮，但该分析不能替代主要终点。表内全部是原论文已发表汇总数据，不是个体患者数据，也没有重建未经提供的个体点或时间轨迹。</a:t>
            </a:r>
          </a:p>
          <a:p>
            <a:pPr/>
            <a:endParaRPr lang="zh-CN" dirty="0"/>
          </a:p>
          <a:p>
            <a:pPr/>
            <a:r>
              <a:rPr lang="zh-CN" dirty="0"/>
              <a:t>本页引自Behr J等，Lancet Respir Med. 2021;9:476–486，原文摘要及结果；PMID 33798455，DOI 10.1016/S2213-2600(20)30554-3。下一页将结合事件计数和研究提前终止说明为什么结论仍需谨慎。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按吡非尼酮和安慰剂的顺序，研究报告死亡1/64与5/63，严重感染类事件5/64与10/63。这些是描述性计数，样本和事件都很少，不能据此证明生存获益，也不能得出两组安全性等效的结论。</a:t>
            </a:r>
          </a:p>
          <a:p>
            <a:pPr/>
            <a:endParaRPr lang="zh-CN" dirty="0"/>
          </a:p>
          <a:p>
            <a:pPr/>
            <a:r>
              <a:rPr lang="zh-CN" dirty="0"/>
              <a:t>研究因招募缓慢触发的无效性中期分析而提前终止；缺失数据处理和不同分析程序影响结果解释，人群异质性也限制了向单个疾病亚型的外推。因此最稳妥的结论是谨慎支持进一步研究，不能从这项试验本身推导出死亡获益、药物间优劣或指南推荐。肺功能替代终点与患者生存不能互换。</a:t>
            </a:r>
          </a:p>
          <a:p>
            <a:pPr/>
            <a:endParaRPr lang="zh-CN" dirty="0"/>
          </a:p>
          <a:p>
            <a:pPr/>
            <a:r>
              <a:rPr lang="zh-CN" dirty="0"/>
              <a:t>本页来源为Behr J等，Lancet Respir Med. 2021;9:476–486，原文结果及讨论；PMID 33798455，DOI 10.1016/S2213-2600(20)30554-3。课件仅为可追溯的研究解读和技术工作流验证，不替代临床决策、说明书或当前指南审核。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lief-ppt-mast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lief-ppt-mast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425768"/>
            <a:ext cx="5608777" cy="970597"/>
            <a:chOff x="518160" y="425768"/>
            <a:chExt cx="5608777" cy="97059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25768"/>
              <a:ext cx="24044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RELIEF / 原始研究解读 / 01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809625"/>
              <a:ext cx="56087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127例，检验非IPF进展性ILD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758315"/>
            <a:ext cx="3219450" cy="3019044"/>
            <a:chOff x="514350" y="1758315"/>
            <a:chExt cx="3219450" cy="3019044"/>
          </a:xfrm>
        </p:grpSpPr>
        <p:sp>
          <p:nvSpPr>
            <p:cNvPr id="5" name="TextBox 5"/>
            <p:cNvSpPr txBox="1"/>
            <p:nvPr/>
          </p:nvSpPr>
          <p:spPr>
            <a:xfrm>
              <a:off x="524256" y="1758315"/>
              <a:ext cx="21113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 · 双盲 · Ⅱb期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4350" y="2230755"/>
              <a:ext cx="157741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127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534031" y="27489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例随机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33400" y="3228975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1970" y="343376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69820" y="343376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256" y="3853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吡非尼酮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72106" y="38538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安慰剂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4256" y="44253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德国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5756" y="44253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76756" y="44253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72106" y="44253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91206" y="4425315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08932" y="1716405"/>
            <a:ext cx="5537302" cy="803529"/>
            <a:chOff x="4408932" y="1716405"/>
            <a:chExt cx="5537302" cy="803529"/>
          </a:xfrm>
        </p:grpSpPr>
        <p:sp>
          <p:nvSpPr>
            <p:cNvPr id="19" name="TextBox 19"/>
            <p:cNvSpPr txBox="1"/>
            <p:nvPr/>
          </p:nvSpPr>
          <p:spPr>
            <a:xfrm>
              <a:off x="4408932" y="1716405"/>
              <a:ext cx="37222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四类非IPF进展性纤维化ILD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10456" y="2167890"/>
              <a:ext cx="55357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CTD-ILD、纤维化NSIP、慢性过敏性肺炎、石棉肺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08932" y="2935605"/>
            <a:ext cx="5786933" cy="794004"/>
            <a:chOff x="4408932" y="2935605"/>
            <a:chExt cx="5786933" cy="794004"/>
          </a:xfrm>
        </p:grpSpPr>
        <p:sp>
          <p:nvSpPr>
            <p:cNvPr id="22" name="TextBox 22"/>
            <p:cNvSpPr txBox="1"/>
            <p:nvPr/>
          </p:nvSpPr>
          <p:spPr>
            <a:xfrm>
              <a:off x="4408932" y="293560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原治疗基础上加药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0456" y="3377565"/>
              <a:ext cx="57854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既有治疗下仍进展；吡非尼酮递增至801 mg，每日3次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08932" y="4145280"/>
            <a:ext cx="4538777" cy="803529"/>
            <a:chOff x="4408932" y="4145280"/>
            <a:chExt cx="4538777" cy="803529"/>
          </a:xfrm>
        </p:grpSpPr>
        <p:sp>
          <p:nvSpPr>
            <p:cNvPr id="25" name="TextBox 25"/>
            <p:cNvSpPr txBox="1"/>
            <p:nvPr/>
          </p:nvSpPr>
          <p:spPr>
            <a:xfrm>
              <a:off x="4408932" y="4145280"/>
              <a:ext cx="36130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主要终点：48周肺功能变化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10456" y="4596765"/>
              <a:ext cx="45372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FVC占预计值百分比相对基线的绝对变化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5334000"/>
            <a:ext cx="11125200" cy="609600"/>
            <a:chOff x="533400" y="5334000"/>
            <a:chExt cx="11125200" cy="609600"/>
          </a:xfrm>
        </p:grpSpPr>
        <p:sp>
          <p:nvSpPr>
            <p:cNvPr id="28" name="Rectangle 28"/>
            <p:cNvSpPr/>
            <p:nvPr/>
          </p:nvSpPr>
          <p:spPr>
            <a:xfrm>
              <a:off x="533400" y="5334000"/>
              <a:ext cx="111252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1332" y="549783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四类疾病的混合证据，不能替代亚型独立验证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8066" y="6211252"/>
            <a:ext cx="5187915" cy="424435"/>
            <a:chOff x="528066" y="6211252"/>
            <a:chExt cx="5187915" cy="424435"/>
          </a:xfrm>
        </p:grpSpPr>
        <p:sp>
          <p:nvSpPr>
            <p:cNvPr id="31" name="TextBox 31"/>
            <p:cNvSpPr txBox="1"/>
            <p:nvPr/>
          </p:nvSpPr>
          <p:spPr>
            <a:xfrm>
              <a:off x="528066" y="6211252"/>
              <a:ext cx="5187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来源：Behr J, et al. Lancet Respir Med. 2021;9:476–486. 原文摘要及方法。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066" y="6430328"/>
              <a:ext cx="3871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PMID 33798455 · DOI 10.1016/S2213-2600(20)30554-3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424666" y="6430328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425768"/>
            <a:ext cx="7239381" cy="970597"/>
            <a:chOff x="518160" y="425768"/>
            <a:chExt cx="7239381" cy="97059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25768"/>
              <a:ext cx="2020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RELIEF / 主要结果 / 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809625"/>
              <a:ext cx="72393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主要分析提示获益，效应估计仍不确定</a:t>
              </a:r>
            </a:p>
          </p:txBody>
        </p:sp>
      </p:grpSp>
      <p:graphicFrame>
        <p:nvGraphicFramePr>
          <p:cNvPr id="5" name="results-table"/>
          <p:cNvGraphicFramePr>
            <a:graphicFrameLocks noGrp="1"/>
          </p:cNvGraphicFramePr>
          <p:nvPr/>
        </p:nvGraphicFramePr>
        <p:xfrm>
          <a:off x="533400" y="1638300"/>
          <a:ext cx="11125200" cy="3276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905250"/>
                <a:gridCol w="2933700"/>
                <a:gridCol w="428625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解释边界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主要分析：ITT秩ANCOVA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P=0.043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SSD插补；死亡最差秩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Hodges–Lehmann组间差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1.69个百分点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 CI −0.65至4.03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预设纵向斜率敏感性分析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3.53个百分点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 CI 0.21至6.86</a:t>
                      </a:r>
                    </a:p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死亡按预设处理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chemeClr val="accent5"/>
                      </a:solidFill>
                      <a:prstDash val="solid"/>
                    </a:lnL>
                    <a:lnR w="9525">
                      <a:solidFill>
                        <a:schemeClr val="accent5"/>
                      </a:solidFill>
                      <a:prstDash val="solid"/>
                    </a:lnR>
                    <a:lnT w="9525">
                      <a:solidFill>
                        <a:schemeClr val="accent5"/>
                      </a:solidFill>
                      <a:prstDash val="solid"/>
                    </a:lnT>
                    <a:lnB w="9525">
                      <a:solidFill>
                        <a:schemeClr val="accent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>
            <a:off x="522732" y="5164455"/>
            <a:ext cx="7407539" cy="745046"/>
            <a:chOff x="522732" y="5164455"/>
            <a:chExt cx="7407539" cy="745046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5164455"/>
              <a:ext cx="74075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P值不能替代区间解读：统计程序不同，必须分别理解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6542" y="5645468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正差支持吡非尼酮；以上为原论文已发表汇总数据，不是个体患者数据。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8066" y="6211252"/>
            <a:ext cx="5187915" cy="424435"/>
            <a:chOff x="528066" y="6211252"/>
            <a:chExt cx="5187915" cy="424435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6211252"/>
              <a:ext cx="5187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来源：Behr J, et al. Lancet Respir Med. 2021;9:476–486. 原文摘要及结果。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8066" y="6430328"/>
              <a:ext cx="3871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PMID 33798455 · DOI 10.1016/S2213-2600(20)30554-3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424666" y="6430328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425768"/>
            <a:ext cx="6391275" cy="970597"/>
            <a:chOff x="518160" y="425768"/>
            <a:chExt cx="6391275" cy="97059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25768"/>
              <a:ext cx="24044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RELIEF / 安全性与局限 / 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809625"/>
              <a:ext cx="639127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可以看到信号，不能越过证据边界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8160" y="1844992"/>
            <a:ext cx="4044315" cy="3131059"/>
            <a:chOff x="518160" y="1844992"/>
            <a:chExt cx="4044315" cy="3131059"/>
          </a:xfrm>
        </p:grpSpPr>
        <p:sp>
          <p:nvSpPr>
            <p:cNvPr id="5" name="TextBox 5"/>
            <p:cNvSpPr txBox="1"/>
            <p:nvPr/>
          </p:nvSpPr>
          <p:spPr>
            <a:xfrm>
              <a:off x="526542" y="1844992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描述性事件计数：吡非尼酮 vs 安慰剂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2732" y="2297430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死亡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8160" y="2724150"/>
              <a:ext cx="2617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1/64 vs 5/63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33400" y="3362325"/>
              <a:ext cx="4029075" cy="9525"/>
            </a:xfrm>
            <a:custGeom>
              <a:avLst/>
              <a:gdLst/>
              <a:ahLst/>
              <a:cxnLst/>
              <a:rect l="l" t="t" r="r" b="b"/>
              <a:pathLst>
                <a:path w="4029075" h="9525">
                  <a:moveTo>
                    <a:pt x="0" y="0"/>
                  </a:moveTo>
                  <a:lnTo>
                    <a:pt x="4029075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2732" y="3611880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严重感染类事件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8160" y="4038600"/>
              <a:ext cx="285043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5/64 vs 10/63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6542" y="47120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事件少，不支持生存获益或安全等效判断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23332" y="1844992"/>
            <a:ext cx="3169920" cy="3256217"/>
            <a:chOff x="5323332" y="1844992"/>
            <a:chExt cx="3169920" cy="3256217"/>
          </a:xfrm>
        </p:grpSpPr>
        <p:sp>
          <p:nvSpPr>
            <p:cNvPr id="13" name="TextBox 13"/>
            <p:cNvSpPr txBox="1"/>
            <p:nvPr/>
          </p:nvSpPr>
          <p:spPr>
            <a:xfrm>
              <a:off x="5327142" y="18449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为什么必须谨慎解读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23332" y="23069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研究提前终止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24856" y="272986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招募缓慢触发无效性中期分析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23332" y="331660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缺失数据影响解释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24856" y="373951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主要分析与敏感性分析需区分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23332" y="43262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人群异质，限制外推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24856" y="47491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不能据此认定各亚型均获益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5334000"/>
            <a:ext cx="11125200" cy="609600"/>
            <a:chOff x="533400" y="5334000"/>
            <a:chExt cx="11125200" cy="609600"/>
          </a:xfrm>
        </p:grpSpPr>
        <p:sp>
          <p:nvSpPr>
            <p:cNvPr id="21" name="Rectangle 21"/>
            <p:cNvSpPr/>
            <p:nvPr/>
          </p:nvSpPr>
          <p:spPr>
            <a:xfrm>
              <a:off x="533400" y="5334000"/>
              <a:ext cx="111252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1332" y="5497830"/>
              <a:ext cx="74422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谨慎支持进一步研究；不能据此宣称生存获益或指南推荐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8066" y="6211252"/>
            <a:ext cx="5187915" cy="424435"/>
            <a:chOff x="528066" y="6211252"/>
            <a:chExt cx="5187915" cy="424435"/>
          </a:xfrm>
        </p:grpSpPr>
        <p:sp>
          <p:nvSpPr>
            <p:cNvPr id="24" name="TextBox 24"/>
            <p:cNvSpPr txBox="1"/>
            <p:nvPr/>
          </p:nvSpPr>
          <p:spPr>
            <a:xfrm>
              <a:off x="528066" y="6211252"/>
              <a:ext cx="5187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来源：Behr J, et al. Lancet Respir Med. 2021;9:476–486. 原文结果及讨论。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066" y="6430328"/>
              <a:ext cx="3871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PMID 33798455 · DOI 10.1016/S2213-2600(20)30554-3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424666" y="6430328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lief-ppt-master">
  <a:themeElements>
    <a:clrScheme name="relief-ppt-master">
      <a:dk1>
        <a:srgbClr val="24323D"/>
      </a:dk1>
      <a:lt1>
        <a:srgbClr val="FFFFFF"/>
      </a:lt1>
      <a:dk2>
        <a:srgbClr val="1F497D"/>
      </a:dk2>
      <a:lt2>
        <a:srgbClr val="F2F6F6"/>
      </a:lt2>
      <a:accent1>
        <a:srgbClr val="8C0D27"/>
      </a:accent1>
      <a:accent2>
        <a:srgbClr val="087B78"/>
      </a:accent2>
      <a:accent3>
        <a:srgbClr val="64748B"/>
      </a:accent3>
      <a:accent4>
        <a:srgbClr val="8C0D27"/>
      </a:accent4>
      <a:accent5>
        <a:srgbClr val="D7E0E4"/>
      </a:accent5>
      <a:accent6>
        <a:srgbClr val="F79646"/>
      </a:accent6>
      <a:hlink>
        <a:srgbClr val="087B78"/>
      </a:hlink>
      <a:folHlink>
        <a:srgbClr val="64748B"/>
      </a:folHlink>
    </a:clrScheme>
    <a:fontScheme name="relief-ppt-master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lief-ppt-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lief-ppt-master">
  <a:themeElements>
    <a:clrScheme name="relief-ppt-master">
      <a:dk1>
        <a:srgbClr val="24323D"/>
      </a:dk1>
      <a:lt1>
        <a:srgbClr val="FFFFFF"/>
      </a:lt1>
      <a:dk2>
        <a:srgbClr val="1F497D"/>
      </a:dk2>
      <a:lt2>
        <a:srgbClr val="F2F6F6"/>
      </a:lt2>
      <a:accent1>
        <a:srgbClr val="8C0D27"/>
      </a:accent1>
      <a:accent2>
        <a:srgbClr val="087B78"/>
      </a:accent2>
      <a:accent3>
        <a:srgbClr val="64748B"/>
      </a:accent3>
      <a:accent4>
        <a:srgbClr val="8C0D27"/>
      </a:accent4>
      <a:accent5>
        <a:srgbClr val="D7E0E4"/>
      </a:accent5>
      <a:accent6>
        <a:srgbClr val="F79646"/>
      </a:accent6>
      <a:hlink>
        <a:srgbClr val="087B78"/>
      </a:hlink>
      <a:folHlink>
        <a:srgbClr val="64748B"/>
      </a:folHlink>
    </a:clrScheme>
    <a:fontScheme name="relief-ppt-master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lief-ppt-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2026-10-26T23:57:22Z</dcterms:created>
  <dcterms:modified xsi:type="dcterms:W3CDTF">2026-10-26T23:57:22Z</dcterms:modified>
  <cp:category/>
  <cp:contentStatus/>
</cp:coreProperties>
</file>