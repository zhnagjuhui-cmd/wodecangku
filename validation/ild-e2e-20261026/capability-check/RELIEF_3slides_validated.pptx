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先界定适用人群。RELIEF纳入德国17中心、四类非IPF进展性纤维化ILD，随机127例，吡非尼酮64例、安慰剂63例。两组均在原治疗基础上加试验药。主要终点是48周FVC占预计值百分比的绝对变化，不是死亡。数据来自原PDF第1页摘要及第3至4页方法。研究提前终止，因此不能把混合人群结果外推为每个亚型的确证疗效。</a:t>
            </a:r>
          </a:p>
          <a:p>
            <a:r>
              <a:t>原文来源：https://doi.org/10.1016/S2213-2600(20)30554-3；PMID 33798455。机构存档PDF已读取；原文及附录的核验边界见证据摘要。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原文汇总统计，非个体原始数据。先读预设ITT秩ANCOVA主要分析P=0.043，再读Hodges–Lehmann差1.69个百分点及95%置信区间−0.65到4.03；区间跨零，必须保留。P值与该估计并非同一统计程序，不应将其强行解释为一致。第三行是预设纵向斜率敏感性分析，差3.53个百分点，95%置信区间0.21到6.86，含预设死亡处理；不能替代主要终点。来源为PDF第1页及结果部分。</a:t>
            </a:r>
          </a:p>
          <a:p>
            <a:r>
              <a:t>原文来源：https://doi.org/10.1016/S2213-2600(20)30554-3；PMID 33798455。机构存档PDF已读取；原文及附录的核验边界见证据摘要。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性按原文计数报告：死亡1/64与5/63，严重感染类事件5/64与10/63。样本和事件数很少，不作死亡获益或安全等效判断。试验因招募缓慢触发的无效性中期分析提前终止，结论依赖缺失数据处理且人群异质。原PDF正文页眉与MED/Crossref DOI一致，但首页侧栏有不同DOI，已记录版本异常；未读取附录。该课件仅为技术测试件，不代表当前指南推荐或适应证审核。</a:t>
            </a:r>
          </a:p>
          <a:p>
            <a:r>
              <a:t>原文来源：https://doi.org/10.1016/S2213-2600(20)30554-3；PMID 33798455。机构存档PDF已读取；原文及附录的核验边界见证据摘要。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8C0D27"/>
                </a:solidFill>
                <a:latin typeface="Noto Sans CJK SC"/>
              </a:defRPr>
            </a:pPr>
            <a:r>
              <a:t>RELIEF：非IPF进展性ILD的Ⅱb期试验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406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87B78"/>
                </a:solidFill>
                <a:latin typeface="Noto Sans CJK SC"/>
              </a:defRPr>
            </a:pPr>
            <a:r>
              <a:t>适用边界：四类疾病的混合人群；不能认定各亚型独立获益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03A42"/>
                </a:solidFill>
                <a:latin typeface="Noto Sans CJK SC"/>
              </a:defRPr>
            </a:pPr>
            <a:r>
              <a:t>Behr J, et al. Lancet Respir Med. 2021;9:476–486. PMID:33798455 | DOI:10.1016/S2213-2600(20)30554-3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303A42"/>
                </a:solidFill>
                <a:latin typeface="Noto Sans CJK SC"/>
              </a:defRPr>
            </a:pPr>
            <a:r>
              <a:t>随机 · 双盲 · 安慰剂对照 | 德国17中心</a:t>
            </a:r>
          </a:p>
          <a:p>
            <a:pPr>
              <a:defRPr sz="2300" b="0">
                <a:solidFill>
                  <a:srgbClr val="303A42"/>
                </a:solidFill>
                <a:latin typeface="Noto Sans CJK SC"/>
              </a:defRPr>
            </a:pPr>
            <a:r>
              <a:t>127例随机：吡非尼酮64例 / 安慰剂63例</a:t>
            </a:r>
          </a:p>
          <a:p>
            <a:pPr>
              <a:defRPr sz="2300" b="0">
                <a:solidFill>
                  <a:srgbClr val="303A42"/>
                </a:solidFill>
                <a:latin typeface="Noto Sans CJK SC"/>
              </a:defRPr>
            </a:pPr>
            <a:r>
              <a:t>CTD-ILD、纤维化NSIP、慢性过敏性肺炎、石棉肺</a:t>
            </a:r>
          </a:p>
          <a:p>
            <a:pPr>
              <a:defRPr sz="2300" b="0">
                <a:solidFill>
                  <a:srgbClr val="303A42"/>
                </a:solidFill>
                <a:latin typeface="Noto Sans CJK SC"/>
              </a:defRPr>
            </a:pPr>
            <a:r>
              <a:t>既有治疗下仍进展；试验药加于原治疗</a:t>
            </a:r>
          </a:p>
          <a:p>
            <a:pPr>
              <a:defRPr sz="2300" b="0">
                <a:solidFill>
                  <a:srgbClr val="303A42"/>
                </a:solidFill>
                <a:latin typeface="Noto Sans CJK SC"/>
              </a:defRPr>
            </a:pPr>
            <a:r>
              <a:t>主要终点：48周FVC占预计值百分比的绝对变化</a:t>
            </a:r>
          </a:p>
          <a:p>
            <a:pPr>
              <a:defRPr sz="2300" b="0">
                <a:solidFill>
                  <a:srgbClr val="303A42"/>
                </a:solidFill>
                <a:latin typeface="Noto Sans CJK SC"/>
              </a:defRPr>
            </a:pPr>
            <a:r>
              <a:t>吡非尼酮递增至801 mg，每日3次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8C0D27"/>
                </a:solidFill>
                <a:latin typeface="Noto Sans CJK SC"/>
              </a:defRPr>
            </a:pPr>
            <a:r>
              <a:t>主要分析提示获益，效应大小仍有不确定性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406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87B78"/>
                </a:solidFill>
                <a:latin typeface="Noto Sans CJK SC"/>
              </a:defRPr>
            </a:pPr>
            <a:r>
              <a:t>提前终止 + 缺失数据：敏感性分析不能替代主要分析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03A42"/>
                </a:solidFill>
                <a:latin typeface="Noto Sans CJK SC"/>
              </a:defRPr>
            </a:pPr>
            <a:r>
              <a:t>Behr J, et al. Lancet Respir Med. 2021;9:476–486. PMID:33798455 | DOI:10.1016/S2213-2600(20)30554-3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8001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03A42"/>
                          </a:solidFill>
                          <a:latin typeface="Noto Sans CJK SC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分析（均为已发表汇总数据）</a:t>
                      </a:r>
                    </a:p>
                  </a:txBody>
                  <a:tcPr>
                    <a:solidFill>
                      <a:srgbClr val="087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03A42"/>
                          </a:solidFill>
                          <a:latin typeface="Noto Sans CJK SC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结果</a:t>
                      </a:r>
                    </a:p>
                  </a:txBody>
                  <a:tcPr>
                    <a:solidFill>
                      <a:srgbClr val="087B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03A42"/>
                          </a:solidFill>
                          <a:latin typeface="Noto Sans CJK SC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统计边界</a:t>
                      </a:r>
                    </a:p>
                  </a:txBody>
                  <a:tcPr>
                    <a:solidFill>
                      <a:srgbClr val="087B7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03A42"/>
                          </a:solidFill>
                          <a:latin typeface="Noto Sans CJK SC"/>
                        </a:defRPr>
                      </a:pPr>
                      <a:r>
                        <a:t>主要：ITT秩ANCOVA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03A42"/>
                          </a:solidFill>
                          <a:latin typeface="Noto Sans CJK SC"/>
                        </a:defRPr>
                      </a:pPr>
                      <a:r>
                        <a:t>P=0.043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03A42"/>
                          </a:solidFill>
                          <a:latin typeface="Noto Sans CJK SC"/>
                        </a:defRPr>
                      </a:pPr>
                      <a:r>
                        <a:t>SSD插补；死亡最差秩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03A42"/>
                          </a:solidFill>
                          <a:latin typeface="Noto Sans CJK SC"/>
                        </a:defRPr>
                      </a:pPr>
                      <a:r>
                        <a:t>Hodges–Lehmann组间差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03A42"/>
                          </a:solidFill>
                          <a:latin typeface="Noto Sans CJK SC"/>
                        </a:defRPr>
                      </a:pPr>
                      <a:r>
                        <a:t>1.69个百分点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03A42"/>
                          </a:solidFill>
                          <a:latin typeface="Noto Sans CJK SC"/>
                        </a:defRPr>
                      </a:pPr>
                      <a:r>
                        <a:t>95%CI −0.65～4.03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03A42"/>
                          </a:solidFill>
                          <a:latin typeface="Noto Sans CJK SC"/>
                        </a:defRPr>
                      </a:pPr>
                      <a:r>
                        <a:t>预设纵向斜率敏感性分析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03A42"/>
                          </a:solidFill>
                          <a:latin typeface="Noto Sans CJK SC"/>
                        </a:defRPr>
                      </a:pPr>
                      <a:r>
                        <a:t>3.53个百分点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03A42"/>
                          </a:solidFill>
                          <a:latin typeface="Noto Sans CJK SC"/>
                        </a:defRPr>
                      </a:pPr>
                      <a:r>
                        <a:t>95%CI 0.21～6.86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800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03A42"/>
                </a:solidFill>
                <a:latin typeface="Noto Sans CJK SC"/>
              </a:defRPr>
            </a:pPr>
            <a:r>
              <a:t>差值方向：正值支持吡非尼酮；不同估计/检验方法应分别解读。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8C0D27"/>
                </a:solidFill>
                <a:latin typeface="Noto Sans CJK SC"/>
              </a:defRPr>
            </a:pPr>
            <a:r>
              <a:t>安全性与局限决定解读边界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406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87B78"/>
                </a:solidFill>
                <a:latin typeface="Noto Sans CJK SC"/>
              </a:defRPr>
            </a:pPr>
            <a:r>
              <a:t>谨慎支持进一步研究；不能据此宣称生存获益或指南推荐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03A42"/>
                </a:solidFill>
                <a:latin typeface="Noto Sans CJK SC"/>
              </a:defRPr>
            </a:pPr>
            <a:r>
              <a:t>Behr J, et al. Lancet Respir Med. 2021;9:476–486. PMID:33798455 | DOI:10.1016/S2213-2600(20)30554-3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303A42"/>
                </a:solidFill>
                <a:latin typeface="Noto Sans CJK SC"/>
              </a:defRPr>
            </a:pPr>
            <a:r>
              <a:t>死亡：1/64 vs 5/63（吡非尼酮 vs 安慰剂）</a:t>
            </a:r>
          </a:p>
          <a:p>
            <a:pPr>
              <a:defRPr sz="2200" b="0">
                <a:solidFill>
                  <a:srgbClr val="303A42"/>
                </a:solidFill>
                <a:latin typeface="Noto Sans CJK SC"/>
              </a:defRPr>
            </a:pPr>
            <a:r>
              <a:t>严重感染类事件：5/64 vs 10/63</a:t>
            </a:r>
          </a:p>
          <a:p>
            <a:pPr>
              <a:defRPr sz="2200" b="0">
                <a:solidFill>
                  <a:srgbClr val="303A42"/>
                </a:solidFill>
                <a:latin typeface="Noto Sans CJK SC"/>
              </a:defRPr>
            </a:pPr>
            <a:r>
              <a:t>仅为描述性事件计数；不证明死亡获益或安全等效</a:t>
            </a:r>
          </a:p>
          <a:p>
            <a:pPr>
              <a:defRPr sz="2200" b="0">
                <a:solidFill>
                  <a:srgbClr val="303A42"/>
                </a:solidFill>
                <a:latin typeface="Noto Sans CJK SC"/>
              </a:defRPr>
            </a:pPr>
            <a:r>
              <a:t>招募缓慢触发无效性中期分析，研究提前终止</a:t>
            </a:r>
          </a:p>
          <a:p>
            <a:pPr>
              <a:defRPr sz="2200" b="0">
                <a:solidFill>
                  <a:srgbClr val="303A42"/>
                </a:solidFill>
                <a:latin typeface="Noto Sans CJK SC"/>
              </a:defRPr>
            </a:pPr>
            <a:r>
              <a:t>缺失数据、人群异质性与样本量限制外推</a:t>
            </a:r>
          </a:p>
          <a:p>
            <a:pPr>
              <a:defRPr sz="2200" b="0">
                <a:solidFill>
                  <a:srgbClr val="303A42"/>
                </a:solidFill>
                <a:latin typeface="Noto Sans CJK SC"/>
              </a:defRPr>
            </a:pPr>
            <a:r>
              <a:t>全文已核验；附录未获取；技术测试件；不替代正式临床推荐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